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Fraunces Extra Bold" panose="020B0604020202020204" charset="0"/>
      <p:regular r:id="rId18"/>
    </p:embeddedFont>
    <p:embeddedFont>
      <p:font typeface="Inconsolata" pitchFamily="1" charset="0"/>
      <p:regular r:id="rId19"/>
    </p:embeddedFont>
    <p:embeddedFont>
      <p:font typeface="Nobile" panose="020B0604020202020204" charset="0"/>
      <p:regular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2553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1523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455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316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043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30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077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353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47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64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9472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162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85488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969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240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03800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06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715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646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045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003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870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614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0056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949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42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189"/>
            <a:ext cx="2828009" cy="8223715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97912" y="984718"/>
            <a:ext cx="893212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Westside Store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Your Modern Online Shopping Destination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7624" y="45134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671AB1B-BB93-9B76-932D-AC920784D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59"/>
            <a:ext cx="5486400" cy="824643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407099E-F603-FF23-080C-C4D75BA2F365}"/>
              </a:ext>
            </a:extLst>
          </p:cNvPr>
          <p:cNvSpPr/>
          <p:nvPr/>
        </p:nvSpPr>
        <p:spPr>
          <a:xfrm>
            <a:off x="12245067" y="7652792"/>
            <a:ext cx="2284973" cy="59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endParaRPr lang="en-IN" sz="1750">
              <a:solidFill>
                <a:srgbClr val="405449"/>
              </a:solidFill>
              <a:latin typeface="Nobile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7CAF07E-EAF3-874E-D25F-A6CF7014FD8A}"/>
              </a:ext>
            </a:extLst>
          </p:cNvPr>
          <p:cNvSpPr/>
          <p:nvPr/>
        </p:nvSpPr>
        <p:spPr>
          <a:xfrm>
            <a:off x="6109204" y="366216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41F674-BA59-1783-82D7-9180260C8B0E}"/>
              </a:ext>
            </a:extLst>
          </p:cNvPr>
          <p:cNvGrpSpPr/>
          <p:nvPr/>
        </p:nvGrpSpPr>
        <p:grpSpPr>
          <a:xfrm>
            <a:off x="6109204" y="3329681"/>
            <a:ext cx="7563855" cy="1792403"/>
            <a:chOff x="6109204" y="3329681"/>
            <a:chExt cx="7563855" cy="1792403"/>
          </a:xfrm>
        </p:grpSpPr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C5CD385D-0C20-C638-D075-9739493509BC}"/>
                </a:ext>
              </a:extLst>
            </p:cNvPr>
            <p:cNvSpPr/>
            <p:nvPr/>
          </p:nvSpPr>
          <p:spPr>
            <a:xfrm>
              <a:off x="6109204" y="3329681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80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NAME      : RAJODIYA RAJKUMAR KETANBHAI</a:t>
              </a:r>
              <a:endParaRPr lang="en-US" sz="2800" dirty="0"/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8FBA737E-9E26-67D1-5D55-AA7F690DD527}"/>
                </a:ext>
              </a:extLst>
            </p:cNvPr>
            <p:cNvSpPr/>
            <p:nvPr/>
          </p:nvSpPr>
          <p:spPr>
            <a:xfrm>
              <a:off x="6116638" y="3781834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80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ENROLL NO : 230021780210108</a:t>
              </a:r>
              <a:endParaRPr lang="en-US" sz="2800" dirty="0"/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78F95219-285B-5E92-C8B4-A3564F15F553}"/>
                </a:ext>
              </a:extLst>
            </p:cNvPr>
            <p:cNvSpPr/>
            <p:nvPr/>
          </p:nvSpPr>
          <p:spPr>
            <a:xfrm>
              <a:off x="6116638" y="4264407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80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BRANCH	: IT</a:t>
              </a:r>
              <a:endParaRPr lang="en-US" sz="2800" dirty="0"/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FA0F4731-A2F5-8C13-6413-A3D5224A25CF}"/>
                </a:ext>
              </a:extLst>
            </p:cNvPr>
            <p:cNvSpPr/>
            <p:nvPr/>
          </p:nvSpPr>
          <p:spPr>
            <a:xfrm>
              <a:off x="6116638" y="4759181"/>
              <a:ext cx="75564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80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BATCH		: C4</a:t>
              </a:r>
              <a:endParaRPr lang="en-US" sz="2800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E4A99D0-533C-57C0-3C65-2FF0C4D11C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0759440" y="0"/>
            <a:ext cx="3870960" cy="7414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9B3D9F-BBB6-8DB4-C1D8-A5C2AEA9A8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" y="19876"/>
            <a:ext cx="810448" cy="848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 to Westside Store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Westside Store is a cutting-edge online shopping platform designed to provide a seamless and enjoyable e-commerce experience. We empower users with intuitive navigation, personalized features, and secure transactions, bringing the convenience of online retail directly to their fingertips.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1AF69-D6B3-1569-6FD7-34CBE262AD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0759440" y="0"/>
            <a:ext cx="3870960" cy="741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FA554-94D8-B8E8-A6D9-5BA5DF14E6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" y="19876"/>
            <a:ext cx="810448" cy="848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F91AD32-23FA-9E6B-EB7D-361BF2840040}"/>
              </a:ext>
            </a:extLst>
          </p:cNvPr>
          <p:cNvGrpSpPr/>
          <p:nvPr/>
        </p:nvGrpSpPr>
        <p:grpSpPr>
          <a:xfrm>
            <a:off x="24871" y="0"/>
            <a:ext cx="14605529" cy="6228993"/>
            <a:chOff x="24871" y="0"/>
            <a:chExt cx="14605529" cy="6228993"/>
          </a:xfrm>
        </p:grpSpPr>
        <p:sp>
          <p:nvSpPr>
            <p:cNvPr id="2" name="Text 0"/>
            <p:cNvSpPr/>
            <p:nvPr/>
          </p:nvSpPr>
          <p:spPr>
            <a:xfrm>
              <a:off x="793790" y="2000488"/>
              <a:ext cx="5670590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Project Objectives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3162895"/>
              <a:ext cx="130428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The core objective of Westside Store was to create a robust and user-friendly platform that simplifies the online shopping journey. We focused on:</a:t>
              </a:r>
              <a:endParaRPr lang="en-US" sz="175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93790" y="4143851"/>
              <a:ext cx="4196358" cy="2085142"/>
            </a:xfrm>
            <a:prstGeom prst="roundRect">
              <a:avLst>
                <a:gd name="adj" fmla="val 7017"/>
              </a:avLst>
            </a:prstGeom>
            <a:solidFill>
              <a:srgbClr val="FAFFFA"/>
            </a:solidFill>
            <a:ln w="30480">
              <a:solidFill>
                <a:srgbClr val="CED9CE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763310" y="4143851"/>
              <a:ext cx="121920" cy="2085142"/>
            </a:xfrm>
            <a:prstGeom prst="roundRect">
              <a:avLst>
                <a:gd name="adj" fmla="val 167442"/>
              </a:avLst>
            </a:prstGeom>
            <a:solidFill>
              <a:srgbClr val="438951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142524" y="4401145"/>
              <a:ext cx="2879288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Effortless Browsing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142524" y="4891564"/>
              <a:ext cx="35903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Intuitive product discovery and easy navigation.</a:t>
              </a:r>
              <a:endParaRPr lang="en-US" sz="17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216962" y="4143851"/>
              <a:ext cx="4196358" cy="2085142"/>
            </a:xfrm>
            <a:prstGeom prst="roundRect">
              <a:avLst>
                <a:gd name="adj" fmla="val 7017"/>
              </a:avLst>
            </a:prstGeom>
            <a:solidFill>
              <a:srgbClr val="FAFFFA"/>
            </a:solidFill>
            <a:ln w="30480">
              <a:solidFill>
                <a:srgbClr val="CED9CE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186482" y="4143851"/>
              <a:ext cx="121920" cy="2085142"/>
            </a:xfrm>
            <a:prstGeom prst="roundRect">
              <a:avLst>
                <a:gd name="adj" fmla="val 167442"/>
              </a:avLst>
            </a:prstGeom>
            <a:solidFill>
              <a:srgbClr val="438951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5565696" y="4401145"/>
              <a:ext cx="3530084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Personalized Experience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565696" y="4891564"/>
              <a:ext cx="35903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Wishlist functionality for saving favorite items.</a:t>
              </a:r>
              <a:endParaRPr lang="en-US" sz="17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640133" y="4143851"/>
              <a:ext cx="4196358" cy="2085142"/>
            </a:xfrm>
            <a:prstGeom prst="roundRect">
              <a:avLst>
                <a:gd name="adj" fmla="val 7017"/>
              </a:avLst>
            </a:prstGeom>
            <a:solidFill>
              <a:srgbClr val="FAFFFA"/>
            </a:solidFill>
            <a:ln w="30480">
              <a:solidFill>
                <a:srgbClr val="CED9C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9609653" y="4143851"/>
              <a:ext cx="121920" cy="2085142"/>
            </a:xfrm>
            <a:prstGeom prst="roundRect">
              <a:avLst>
                <a:gd name="adj" fmla="val 167442"/>
              </a:avLst>
            </a:prstGeom>
            <a:solidFill>
              <a:srgbClr val="438951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9988868" y="4401145"/>
              <a:ext cx="359033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Streamlined Transactions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988868" y="5245894"/>
              <a:ext cx="35903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Efficient shopping cart and secure order processing.</a:t>
              </a:r>
              <a:endParaRPr lang="en-US" sz="175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A31B72F-21E9-84B8-7ED2-21B1EC5C2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051DE80-C9F6-6278-52F7-72CC1E6D8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50BBB93-36A2-6816-D476-5A8F964D1DC0}"/>
              </a:ext>
            </a:extLst>
          </p:cNvPr>
          <p:cNvGrpSpPr/>
          <p:nvPr/>
        </p:nvGrpSpPr>
        <p:grpSpPr>
          <a:xfrm>
            <a:off x="24871" y="0"/>
            <a:ext cx="14605529" cy="6639401"/>
            <a:chOff x="24871" y="0"/>
            <a:chExt cx="14605529" cy="6639401"/>
          </a:xfrm>
        </p:grpSpPr>
        <p:sp>
          <p:nvSpPr>
            <p:cNvPr id="2" name="Text 0"/>
            <p:cNvSpPr/>
            <p:nvPr/>
          </p:nvSpPr>
          <p:spPr>
            <a:xfrm>
              <a:off x="793790" y="1590199"/>
              <a:ext cx="7401877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Key Technologies Utilized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752606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Westside Store leverages a modern tech stack to deliver a responsive and scalable application:</a:t>
              </a:r>
              <a:endParaRPr lang="en-US" sz="1750" dirty="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370659"/>
              <a:ext cx="566976" cy="566976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644253" y="350531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React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644253" y="3995738"/>
              <a:ext cx="552914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For building dynamic and interactive user interfaces.</a:t>
              </a:r>
              <a:endParaRPr lang="en-US" sz="1750" dirty="0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6884" y="3370659"/>
              <a:ext cx="566976" cy="566976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8307348" y="350531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Express.js</a:t>
              </a:r>
              <a:endParaRPr lang="en-US" sz="2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8307348" y="3995738"/>
              <a:ext cx="552926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 fast and minimalist web framework for the backend.</a:t>
              </a:r>
              <a:endParaRPr lang="en-US" sz="1750" dirty="0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790" y="5288518"/>
              <a:ext cx="566976" cy="566976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1644253" y="542317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MongoDB</a:t>
              </a:r>
              <a:endParaRPr lang="en-US" sz="22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1644253" y="5913596"/>
              <a:ext cx="5529143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 NoSQL database for flexible and scalable data storage.</a:t>
              </a:r>
              <a:endParaRPr lang="en-US" sz="1750" dirty="0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56884" y="5288518"/>
              <a:ext cx="566976" cy="566976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8307348" y="542317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LocalStorage</a:t>
              </a:r>
              <a:endParaRPr lang="en-US" sz="220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8307348" y="5913596"/>
              <a:ext cx="5529263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For efficient client-side data persistence.</a:t>
              </a:r>
              <a:endParaRPr lang="en-US" sz="175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4A81E3-6C01-7247-D002-90ED9D11C2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D06A08-C075-F88E-AE83-12F3D2108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BDFD512-7F1B-15E1-83C2-3858275594BE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486400" cy="8229600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6280190" y="702826"/>
              <a:ext cx="7556421" cy="1417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System Architecture Overview</a:t>
              </a:r>
              <a:endParaRPr lang="en-US" sz="445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6280190" y="2460546"/>
              <a:ext cx="75564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Our architecture ensures a clear separation of concerns and efficient data flow:</a:t>
              </a:r>
              <a:endParaRPr lang="en-US" sz="17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280190" y="366831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Frontend (React)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280190" y="4249460"/>
              <a:ext cx="35015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Handles user interactions and renders the UI.</a:t>
              </a:r>
              <a:endParaRPr lang="en-US" sz="17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342721" y="3668316"/>
              <a:ext cx="300549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Backend (Express.js)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342721" y="4249460"/>
              <a:ext cx="35015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Manages API requests and business logic.</a:t>
              </a:r>
              <a:endParaRPr lang="en-US" sz="17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280190" y="5661303"/>
              <a:ext cx="3053358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Database (MongoDB)</a:t>
              </a:r>
              <a:endParaRPr lang="en-US" sz="2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280190" y="6242447"/>
              <a:ext cx="35015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Stores all persistent application data.</a:t>
              </a:r>
              <a:endParaRPr lang="en-US" sz="17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342721" y="5661303"/>
              <a:ext cx="3501509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Client-Side (LocalStorage)</a:t>
              </a:r>
              <a:endParaRPr lang="en-US" sz="2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0342721" y="6596777"/>
              <a:ext cx="350150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Temporarily stores user data for faster access.</a:t>
              </a:r>
              <a:endParaRPr lang="en-US" sz="1750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20A04A9-3E19-67FB-86B2-D186A0A771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BDC55D-32F4-750E-A504-0FEC408D4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542D0BE-6A82-661D-0A83-C28297914CAD}"/>
              </a:ext>
            </a:extLst>
          </p:cNvPr>
          <p:cNvGrpSpPr/>
          <p:nvPr/>
        </p:nvGrpSpPr>
        <p:grpSpPr>
          <a:xfrm>
            <a:off x="24871" y="0"/>
            <a:ext cx="14605529" cy="6494740"/>
            <a:chOff x="24871" y="0"/>
            <a:chExt cx="14605529" cy="6494740"/>
          </a:xfrm>
        </p:grpSpPr>
        <p:sp>
          <p:nvSpPr>
            <p:cNvPr id="2" name="Text 0"/>
            <p:cNvSpPr/>
            <p:nvPr/>
          </p:nvSpPr>
          <p:spPr>
            <a:xfrm>
              <a:off x="793790" y="1734860"/>
              <a:ext cx="6987183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Robust Database Design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897267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Our MongoDB schema is structured to efficiently manage essential e-commerce data:</a:t>
              </a:r>
              <a:endParaRPr lang="en-US" sz="175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93790" y="3515320"/>
              <a:ext cx="13042821" cy="2979420"/>
            </a:xfrm>
            <a:prstGeom prst="roundRect">
              <a:avLst>
                <a:gd name="adj" fmla="val 6852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801410" y="3522940"/>
              <a:ext cx="13027581" cy="65031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028343" y="3666649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Collection</a:t>
              </a:r>
              <a:endParaRPr lang="en-US" sz="17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40379" y="3666649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Purpose</a:t>
              </a:r>
              <a:endParaRPr lang="en-US" sz="17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01410" y="4173260"/>
              <a:ext cx="13027581" cy="65031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28343" y="4316968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Users</a:t>
              </a:r>
              <a:endParaRPr lang="en-US" sz="17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940379" y="4316968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Stores user credentials, profiles.</a:t>
              </a:r>
              <a:endParaRPr lang="en-US" sz="17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01410" y="4823579"/>
              <a:ext cx="13027581" cy="1013222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028343" y="4967288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Products</a:t>
              </a:r>
              <a:endParaRPr lang="en-US" sz="17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940379" y="4967288"/>
              <a:ext cx="8661797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Contains detailed information about all available items (price, description, images).</a:t>
              </a:r>
              <a:endParaRPr lang="en-US" sz="1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01410" y="5836801"/>
              <a:ext cx="13027581" cy="65031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1028343" y="5980509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Contacts</a:t>
              </a:r>
              <a:endParaRPr lang="en-US" sz="17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40379" y="5980509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Records customer inquiries and feedback from the contact form.</a:t>
              </a:r>
              <a:endParaRPr lang="en-US" sz="175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123BC48-E19A-AA69-7BA4-D744B0DA36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29012F6-CA5B-02F3-E8C1-1B0CCD3A5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193C9D8-11DE-31B0-011A-761197BCC355}"/>
              </a:ext>
            </a:extLst>
          </p:cNvPr>
          <p:cNvGrpSpPr/>
          <p:nvPr/>
        </p:nvGrpSpPr>
        <p:grpSpPr>
          <a:xfrm>
            <a:off x="24871" y="0"/>
            <a:ext cx="14605529" cy="7739063"/>
            <a:chOff x="24871" y="0"/>
            <a:chExt cx="14605529" cy="7739063"/>
          </a:xfrm>
        </p:grpSpPr>
        <p:sp>
          <p:nvSpPr>
            <p:cNvPr id="2" name="Text 0"/>
            <p:cNvSpPr/>
            <p:nvPr/>
          </p:nvSpPr>
          <p:spPr>
            <a:xfrm>
              <a:off x="627459" y="493038"/>
              <a:ext cx="4482584" cy="560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400"/>
                </a:lnSpc>
                <a:buNone/>
              </a:pPr>
              <a:r>
                <a:rPr lang="en-US" sz="35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Key Features</a:t>
              </a:r>
              <a:endParaRPr lang="en-US" sz="3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627459" y="1411843"/>
              <a:ext cx="13375481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Westside Store offers a comprehensive suite of features to enhance the user shopping experience:</a:t>
              </a:r>
              <a:endParaRPr lang="en-US" sz="14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627459" y="1995607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896183" y="1900357"/>
              <a:ext cx="2553057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Secure Authentication</a:t>
              </a:r>
              <a:endParaRPr lang="en-US" sz="17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96183" y="2287905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Seamless </a:t>
              </a: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Signup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and </a:t>
              </a: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Login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processes for user accounts.</a:t>
              </a:r>
              <a:endParaRPr lang="en-US" sz="14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27459" y="3028474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896183" y="2933224"/>
              <a:ext cx="2995732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Extensive Product Catalog</a:t>
              </a:r>
              <a:endParaRPr lang="en-US" sz="17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96183" y="3320772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Intuitive </a:t>
              </a: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Product Listing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with detailed item views.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27459" y="4061341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896183" y="3966091"/>
              <a:ext cx="2679859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Efficient Shopping Cart</a:t>
              </a:r>
              <a:endParaRPr lang="en-US" sz="17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96183" y="4353639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Add to Cart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functionality for managing selected items.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27459" y="5094208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896183" y="4998958"/>
              <a:ext cx="2468999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Personalized Wishlist</a:t>
              </a:r>
              <a:endParaRPr lang="en-US" sz="17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96183" y="5386507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Ability to save desired products for future purchase.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7459" y="6127075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896183" y="6031825"/>
              <a:ext cx="2536746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Streamlined Checkout</a:t>
              </a:r>
              <a:endParaRPr lang="en-US" sz="17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96183" y="6419374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Secure </a:t>
              </a: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Payment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processing for order completion.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7459" y="7159942"/>
              <a:ext cx="89535" cy="89535"/>
            </a:xfrm>
            <a:prstGeom prst="roundRect">
              <a:avLst>
                <a:gd name="adj" fmla="val 510638"/>
              </a:avLst>
            </a:prstGeom>
            <a:solidFill>
              <a:srgbClr val="438951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896183" y="7064692"/>
              <a:ext cx="2600325" cy="280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Direct Communication</a:t>
              </a:r>
              <a:endParaRPr lang="en-US" sz="17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96183" y="7452241"/>
              <a:ext cx="13106757" cy="2868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An easy-to-use </a:t>
              </a:r>
              <a:r>
                <a:rPr lang="en-US" sz="14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Contact Form</a:t>
              </a: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for support and inquiries.</a:t>
              </a:r>
              <a:endParaRPr lang="en-US" sz="1400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38AE4D2-60D9-AA73-4893-DD7E9996C6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0A0F201-C8EB-56C3-91F0-12CFAA91A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2B822D2-93E9-0807-F41B-1A76C1301422}"/>
              </a:ext>
            </a:extLst>
          </p:cNvPr>
          <p:cNvGrpSpPr/>
          <p:nvPr/>
        </p:nvGrpSpPr>
        <p:grpSpPr>
          <a:xfrm>
            <a:off x="24871" y="0"/>
            <a:ext cx="14605529" cy="6992422"/>
            <a:chOff x="24871" y="0"/>
            <a:chExt cx="14605529" cy="6992422"/>
          </a:xfrm>
        </p:grpSpPr>
        <p:sp>
          <p:nvSpPr>
            <p:cNvPr id="2" name="Text 0"/>
            <p:cNvSpPr/>
            <p:nvPr/>
          </p:nvSpPr>
          <p:spPr>
            <a:xfrm>
              <a:off x="793790" y="1010364"/>
              <a:ext cx="6829544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User Workflow Journey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172772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From discovery to confirmation, our user journey is intuitive and efficient:</a:t>
              </a:r>
              <a:endParaRPr lang="en-US" sz="1750" dirty="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2790825"/>
              <a:ext cx="6521410" cy="907256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020604" y="392489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Browse Products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020604" y="4415314"/>
              <a:ext cx="606778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Users explore the catalog.</a:t>
              </a:r>
              <a:endParaRPr lang="en-US" sz="1750" dirty="0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0" y="2790825"/>
              <a:ext cx="6521410" cy="907256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542014" y="392489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Add to Cart</a:t>
              </a:r>
              <a:endParaRPr lang="en-US" sz="2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542014" y="4415314"/>
              <a:ext cx="606778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Selected items move to the cart.</a:t>
              </a:r>
              <a:endParaRPr lang="en-US" sz="1750" dirty="0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790" y="5005030"/>
              <a:ext cx="6521410" cy="907256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1020604" y="6139101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Checkout</a:t>
              </a:r>
              <a:endParaRPr lang="en-US" sz="22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1020604" y="6629519"/>
              <a:ext cx="606778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Payment and shipping details are confirmed.</a:t>
              </a:r>
              <a:endParaRPr lang="en-US" sz="1750" dirty="0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00" y="5005030"/>
              <a:ext cx="6521410" cy="907256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7542014" y="6139101"/>
              <a:ext cx="2887028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Order Confirmation</a:t>
              </a:r>
              <a:endParaRPr lang="en-US" sz="220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7542014" y="6629519"/>
              <a:ext cx="606778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Successful purchase notification.</a:t>
              </a:r>
              <a:endParaRPr lang="en-US" sz="175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160BF37-0DA5-78B8-3FB4-F2AC0BF9EC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2FE2437-F72E-4C31-DC41-454D03243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355D58-762B-1C34-A81E-B52F9ABF557F}"/>
              </a:ext>
            </a:extLst>
          </p:cNvPr>
          <p:cNvGrpSpPr/>
          <p:nvPr/>
        </p:nvGrpSpPr>
        <p:grpSpPr>
          <a:xfrm>
            <a:off x="24871" y="0"/>
            <a:ext cx="14605529" cy="6391395"/>
            <a:chOff x="24871" y="0"/>
            <a:chExt cx="14605529" cy="6391395"/>
          </a:xfrm>
        </p:grpSpPr>
        <p:sp>
          <p:nvSpPr>
            <p:cNvPr id="2" name="Text 0"/>
            <p:cNvSpPr/>
            <p:nvPr/>
          </p:nvSpPr>
          <p:spPr>
            <a:xfrm>
              <a:off x="793790" y="1374005"/>
              <a:ext cx="6578441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Challenges &amp; Solutions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796540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Developing Westside Store presented unique challenges, each met with thoughtful solutions:</a:t>
              </a:r>
              <a:endParaRPr lang="en-US" sz="17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93790" y="3641407"/>
              <a:ext cx="3978116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Database Connection Errors</a:t>
              </a:r>
              <a:endParaRPr lang="en-US" sz="2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4576882"/>
              <a:ext cx="3978116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Implemented robust error handling and retry mechanisms using middleware to ensure seamless communication between Express.js and MongoDB.</a:t>
              </a:r>
              <a:endParaRPr lang="en-US" sz="17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332928" y="3641407"/>
              <a:ext cx="3978116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LocalStorage State Management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332928" y="4576882"/>
              <a:ext cx="3978116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Developed a custom hook for React to synchronize application state with LocalStorage, ensuring data persistence across sessions and a smooth user experience.</a:t>
              </a:r>
              <a:endParaRPr lang="en-US" sz="17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872067" y="364140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Scalability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872067" y="4222552"/>
              <a:ext cx="3978116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Designed the backend with modular components and stateless APIs to support future growth and increased user load.</a:t>
              </a:r>
              <a:endParaRPr lang="en-US" sz="175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F88374E-42CE-31CF-8D62-1A797DAB46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4D1687-3AE9-19AF-4514-969061A9C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4DCA5B7-61C9-BC28-3617-20839ED260E1}"/>
              </a:ext>
            </a:extLst>
          </p:cNvPr>
          <p:cNvGrpSpPr/>
          <p:nvPr/>
        </p:nvGrpSpPr>
        <p:grpSpPr>
          <a:xfrm>
            <a:off x="24871" y="0"/>
            <a:ext cx="14605529" cy="6034087"/>
            <a:chOff x="24871" y="0"/>
            <a:chExt cx="14605529" cy="6034087"/>
          </a:xfrm>
        </p:grpSpPr>
        <p:sp>
          <p:nvSpPr>
            <p:cNvPr id="2" name="Text 0"/>
            <p:cNvSpPr/>
            <p:nvPr/>
          </p:nvSpPr>
          <p:spPr>
            <a:xfrm>
              <a:off x="793790" y="959287"/>
              <a:ext cx="10276523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Future Enhancements &amp; Conclusion</a:t>
              </a:r>
              <a:endParaRPr lang="en-US" sz="44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93790" y="2121694"/>
              <a:ext cx="1304282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We envision exciting future developments for Westside Store, continuing to enhance its capabilities:</a:t>
              </a:r>
              <a:endParaRPr lang="en-US" sz="175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93790" y="2739747"/>
              <a:ext cx="4196358" cy="3294340"/>
            </a:xfrm>
            <a:prstGeom prst="roundRect">
              <a:avLst>
                <a:gd name="adj" fmla="val 6197"/>
              </a:avLst>
            </a:prstGeom>
            <a:solidFill>
              <a:srgbClr val="E8F3E8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1020604" y="2966561"/>
              <a:ext cx="680442" cy="680442"/>
            </a:xfrm>
            <a:prstGeom prst="roundRect">
              <a:avLst>
                <a:gd name="adj" fmla="val 13436980"/>
              </a:avLst>
            </a:prstGeom>
            <a:solidFill>
              <a:srgbClr val="438951"/>
            </a:solidFill>
            <a:ln/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770" y="3115389"/>
              <a:ext cx="306110" cy="382667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020604" y="3873818"/>
              <a:ext cx="374273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Advanced Payment Gateways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20604" y="4718566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Integration with multiple online payment providers for greater flexibility.</a:t>
              </a:r>
              <a:endParaRPr lang="en-US" sz="17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5216962" y="2739747"/>
              <a:ext cx="4196358" cy="3294340"/>
            </a:xfrm>
            <a:prstGeom prst="roundRect">
              <a:avLst>
                <a:gd name="adj" fmla="val 6197"/>
              </a:avLst>
            </a:prstGeom>
            <a:solidFill>
              <a:srgbClr val="E8F3E8"/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5443776" y="2966561"/>
              <a:ext cx="680442" cy="680442"/>
            </a:xfrm>
            <a:prstGeom prst="roundRect">
              <a:avLst>
                <a:gd name="adj" fmla="val 13436980"/>
              </a:avLst>
            </a:prstGeom>
            <a:solidFill>
              <a:srgbClr val="438951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0942" y="3115389"/>
              <a:ext cx="306110" cy="382667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443776" y="3873818"/>
              <a:ext cx="374273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Comprehensive Admin Panel</a:t>
              </a:r>
              <a:endParaRPr lang="en-US" sz="2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443776" y="4718566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 dedicated interface for efficient product, order, and user management.</a:t>
              </a:r>
              <a:endParaRPr lang="en-US" sz="175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9640133" y="2739747"/>
              <a:ext cx="4196358" cy="3294340"/>
            </a:xfrm>
            <a:prstGeom prst="roundRect">
              <a:avLst>
                <a:gd name="adj" fmla="val 6197"/>
              </a:avLst>
            </a:prstGeom>
            <a:solidFill>
              <a:srgbClr val="E8F3E8"/>
            </a:solidFill>
            <a:ln/>
          </p:spPr>
        </p:sp>
        <p:sp>
          <p:nvSpPr>
            <p:cNvPr id="15" name="Shape 11"/>
            <p:cNvSpPr/>
            <p:nvPr/>
          </p:nvSpPr>
          <p:spPr>
            <a:xfrm>
              <a:off x="9866948" y="2966561"/>
              <a:ext cx="680442" cy="680442"/>
            </a:xfrm>
            <a:prstGeom prst="roundRect">
              <a:avLst>
                <a:gd name="adj" fmla="val 13436980"/>
              </a:avLst>
            </a:prstGeom>
            <a:solidFill>
              <a:srgbClr val="438951"/>
            </a:solidFill>
            <a:ln/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54114" y="3115389"/>
              <a:ext cx="306110" cy="382667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9866948" y="3873818"/>
              <a:ext cx="3708797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Real-time Order Tracking</a:t>
              </a:r>
              <a:endParaRPr lang="en-US" sz="2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9866948" y="4364236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Allowing users to monitor their order status from purchase to delivery.</a:t>
              </a:r>
              <a:endParaRPr lang="en-US" sz="1750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A41278F-D8BC-21A1-A754-ABA690C00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91" t="16832" b="13861"/>
            <a:stretch/>
          </p:blipFill>
          <p:spPr>
            <a:xfrm>
              <a:off x="10759440" y="0"/>
              <a:ext cx="3870960" cy="74146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BF0D90-0C1A-1E4B-40A4-477AD1446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71" y="19876"/>
              <a:ext cx="810448" cy="8485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119B-930B-2008-7911-9F64F511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127375"/>
            <a:ext cx="10788650" cy="1974850"/>
          </a:xfrm>
        </p:spPr>
        <p:txBody>
          <a:bodyPr>
            <a:normAutofit/>
          </a:bodyPr>
          <a:lstStyle/>
          <a:p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94481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24</TotalTime>
  <Words>588</Words>
  <Application>Microsoft Office PowerPoint</Application>
  <PresentationFormat>Custom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Fraunces Extra Bold</vt:lpstr>
      <vt:lpstr>Nobile</vt:lpstr>
      <vt:lpstr>Wingdings 3</vt:lpstr>
      <vt:lpstr>Century Gothic</vt:lpstr>
      <vt:lpstr>Inconsolata</vt:lpstr>
      <vt:lpstr>Arial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Raj Rajodiya</cp:lastModifiedBy>
  <cp:revision>12</cp:revision>
  <dcterms:created xsi:type="dcterms:W3CDTF">2025-08-06T09:46:43Z</dcterms:created>
  <dcterms:modified xsi:type="dcterms:W3CDTF">2025-08-06T20:46:37Z</dcterms:modified>
</cp:coreProperties>
</file>